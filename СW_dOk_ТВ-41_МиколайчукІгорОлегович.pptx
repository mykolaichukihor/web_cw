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58" r:id="rId5"/>
    <p:sldId id="259" r:id="rId6"/>
    <p:sldId id="267" r:id="rId7"/>
    <p:sldId id="268" r:id="rId8"/>
    <p:sldId id="260" r:id="rId9"/>
    <p:sldId id="270" r:id="rId10"/>
    <p:sldId id="271" r:id="rId11"/>
    <p:sldId id="272" r:id="rId12"/>
    <p:sldId id="273" r:id="rId13"/>
    <p:sldId id="274" r:id="rId14"/>
    <p:sldId id="269" r:id="rId15"/>
    <p:sldId id="261" r:id="rId16"/>
    <p:sldId id="262" r:id="rId17"/>
    <p:sldId id="263" r:id="rId18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4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і об’є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76962"/>
            <a:ext cx="12192000" cy="681355"/>
          </a:xfrm>
          <a:custGeom>
            <a:avLst/>
            <a:gdLst/>
            <a:ahLst/>
            <a:cxnLst/>
            <a:rect l="l" t="t" r="r" b="b"/>
            <a:pathLst>
              <a:path w="12192000" h="681354">
                <a:moveTo>
                  <a:pt x="12192000" y="0"/>
                </a:moveTo>
                <a:lnTo>
                  <a:pt x="0" y="0"/>
                </a:lnTo>
                <a:lnTo>
                  <a:pt x="0" y="681037"/>
                </a:lnTo>
                <a:lnTo>
                  <a:pt x="12192000" y="6810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177" y="117594"/>
            <a:ext cx="924520" cy="13500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9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1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5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8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98205-8E98-4351-9F1C-1DD4555500F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23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33413"/>
            <a:ext cx="12192000" cy="525145"/>
          </a:xfrm>
          <a:custGeom>
            <a:avLst/>
            <a:gdLst/>
            <a:ahLst/>
            <a:cxnLst/>
            <a:rect l="l" t="t" r="r" b="b"/>
            <a:pathLst>
              <a:path w="12192000" h="525145">
                <a:moveTo>
                  <a:pt x="12191936" y="0"/>
                </a:moveTo>
                <a:lnTo>
                  <a:pt x="0" y="0"/>
                </a:lnTo>
                <a:lnTo>
                  <a:pt x="0" y="524586"/>
                </a:lnTo>
                <a:lnTo>
                  <a:pt x="12191936" y="524586"/>
                </a:lnTo>
                <a:lnTo>
                  <a:pt x="12191936" y="0"/>
                </a:lnTo>
                <a:close/>
              </a:path>
            </a:pathLst>
          </a:custGeom>
          <a:solidFill>
            <a:srgbClr val="1C39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401"/>
            <a:ext cx="12192000" cy="525145"/>
          </a:xfrm>
          <a:custGeom>
            <a:avLst/>
            <a:gdLst/>
            <a:ahLst/>
            <a:cxnLst/>
            <a:rect l="l" t="t" r="r" b="b"/>
            <a:pathLst>
              <a:path w="12192000" h="525145">
                <a:moveTo>
                  <a:pt x="0" y="0"/>
                </a:moveTo>
                <a:lnTo>
                  <a:pt x="12191936" y="0"/>
                </a:lnTo>
                <a:lnTo>
                  <a:pt x="12191936" y="524598"/>
                </a:lnTo>
              </a:path>
            </a:pathLst>
          </a:custGeom>
          <a:ln w="9525">
            <a:solidFill>
              <a:srgbClr val="1C39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2192000" cy="1206500"/>
          </a:xfrm>
          <a:custGeom>
            <a:avLst/>
            <a:gdLst/>
            <a:ahLst/>
            <a:cxnLst/>
            <a:rect l="l" t="t" r="r" b="b"/>
            <a:pathLst>
              <a:path w="12192000" h="1206500">
                <a:moveTo>
                  <a:pt x="12191936" y="0"/>
                </a:moveTo>
                <a:lnTo>
                  <a:pt x="0" y="0"/>
                </a:lnTo>
                <a:lnTo>
                  <a:pt x="0" y="1206004"/>
                </a:lnTo>
                <a:lnTo>
                  <a:pt x="12191936" y="1206004"/>
                </a:lnTo>
                <a:lnTo>
                  <a:pt x="12191936" y="0"/>
                </a:lnTo>
                <a:close/>
              </a:path>
            </a:pathLst>
          </a:custGeom>
          <a:solidFill>
            <a:srgbClr val="1C39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12192000" cy="1206500"/>
          </a:xfrm>
          <a:custGeom>
            <a:avLst/>
            <a:gdLst/>
            <a:ahLst/>
            <a:cxnLst/>
            <a:rect l="l" t="t" r="r" b="b"/>
            <a:pathLst>
              <a:path w="12192000" h="1206500">
                <a:moveTo>
                  <a:pt x="12191936" y="0"/>
                </a:moveTo>
                <a:lnTo>
                  <a:pt x="12191936" y="1205992"/>
                </a:lnTo>
                <a:lnTo>
                  <a:pt x="0" y="1205992"/>
                </a:lnTo>
              </a:path>
            </a:pathLst>
          </a:custGeom>
          <a:ln w="9525">
            <a:solidFill>
              <a:srgbClr val="0B53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204" y="55999"/>
            <a:ext cx="731591" cy="10624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9229" y="158364"/>
            <a:ext cx="9473541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5289" y="1334694"/>
            <a:ext cx="10801421" cy="284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5287" y="2472244"/>
            <a:ext cx="11661913" cy="3877985"/>
          </a:xfrm>
        </p:spPr>
        <p:txBody>
          <a:bodyPr/>
          <a:lstStyle/>
          <a:p>
            <a:br>
              <a:rPr lang="uk-UA" sz="4000" b="1" dirty="0"/>
            </a:br>
            <a:r>
              <a:rPr lang="ru-RU" sz="3200" b="1" dirty="0"/>
              <a:t>Веб-додаток для створення та редагування фотографій</a:t>
            </a:r>
            <a:br>
              <a:rPr lang="uk-UA" sz="4000" b="1" dirty="0"/>
            </a:br>
            <a:r>
              <a:rPr lang="uk-UA" sz="3200" u="sng" dirty="0"/>
              <a:t>Виконав: </a:t>
            </a:r>
            <a:r>
              <a:rPr lang="uk-UA" sz="3200" dirty="0"/>
              <a:t>Миколайчук Ігор Олегович, група ТВ-41</a:t>
            </a:r>
            <a:br>
              <a:rPr lang="uk-UA" sz="4000" b="1" dirty="0"/>
            </a:br>
            <a:r>
              <a:rPr lang="uk-UA" sz="3200" u="sng" dirty="0"/>
              <a:t>Перевірив: </a:t>
            </a:r>
            <a:r>
              <a:rPr lang="uk-UA" sz="3200" dirty="0"/>
              <a:t>Голець Владислав Олександрович</a:t>
            </a:r>
            <a:br>
              <a:rPr lang="uk-UA" sz="3200" dirty="0"/>
            </a:br>
            <a:r>
              <a:rPr lang="en-US" sz="1200" dirty="0"/>
              <a:t>GitHub </a:t>
            </a:r>
            <a:r>
              <a:rPr lang="uk-UA" sz="1200" dirty="0"/>
              <a:t>репозиторій </a:t>
            </a:r>
            <a:r>
              <a:rPr lang="en-US" sz="1200" u="sng" dirty="0"/>
              <a:t>https://github.com/MykolaichukIhor/web_CW</a:t>
            </a:r>
            <a:br>
              <a:rPr lang="uk-UA" sz="3200" u="sng" dirty="0"/>
            </a:br>
            <a:br>
              <a:rPr lang="uk-UA" sz="3200" u="sng" dirty="0"/>
            </a:br>
            <a:r>
              <a:rPr lang="uk-UA" sz="3200" dirty="0"/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288" y="1170603"/>
            <a:ext cx="116619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dirty="0">
                <a:solidFill>
                  <a:srgbClr val="002060"/>
                </a:solidFill>
              </a:rPr>
              <a:t>Навчально-науковий інститут атомної та теплової енергетики</a:t>
            </a:r>
          </a:p>
          <a:p>
            <a:pPr algn="ctr"/>
            <a:r>
              <a:rPr lang="uk-UA" sz="3200" dirty="0">
                <a:solidFill>
                  <a:srgbClr val="002060"/>
                </a:solidFill>
              </a:rPr>
              <a:t>Кафедра інженерії програмного забезпечення в енергетиці</a:t>
            </a:r>
          </a:p>
          <a:p>
            <a:pPr algn="ctr"/>
            <a:r>
              <a:rPr lang="uk-UA" sz="3200" b="1" dirty="0">
                <a:solidFill>
                  <a:srgbClr val="002060"/>
                </a:solidFill>
              </a:rPr>
              <a:t>Основи Веб-програмування. Курсова робота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1/17</a:t>
            </a:r>
          </a:p>
        </p:txBody>
      </p:sp>
    </p:spTree>
    <p:extLst>
      <p:ext uri="{BB962C8B-B14F-4D97-AF65-F5344CB8AC3E}">
        <p14:creationId xmlns:p14="http://schemas.microsoft.com/office/powerpoint/2010/main" val="76885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Актуальність 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2/17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02091C-0B5E-9B76-D2A0-0320B871D58E}"/>
              </a:ext>
            </a:extLst>
          </p:cNvPr>
          <p:cNvSpPr txBox="1"/>
          <p:nvPr/>
        </p:nvSpPr>
        <p:spPr>
          <a:xfrm>
            <a:off x="202962" y="2731124"/>
            <a:ext cx="114705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Опис задачі: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Розробка веб-додатку "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 Gallery" —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єдиного центру для зберігання, редагування та каталогізації фотографій. Додаток вирішує проблему відсутності простого, але функціонального веб-орієнтованого інструменту, що не потребує встановлення складного ПЗ.</a:t>
            </a:r>
          </a:p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 для галузі: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Демонстрація інтеграції сучасних веб-технологій (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Django, Pillow)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обробки контенту. Забезпечує рішення для конкретних потреб користувачів із фокусом на безпеку даних (ізоляція за обліковими записами) та зручність.</a:t>
            </a:r>
          </a:p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Мета: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Розроблення функціонального та безпечного веб-додатку для управління та редагування зображень.</a:t>
            </a:r>
          </a:p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Процеси розробки за патерном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MVT,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включаючи серверну обробку зображень та створення адаптивного інтерфейсу.</a:t>
            </a:r>
          </a:p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Об’єкт: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Веб-додаток на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 використанням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SQLite, Pillow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Bootstrap.</a:t>
            </a:r>
          </a:p>
        </p:txBody>
      </p:sp>
    </p:spTree>
    <p:extLst>
      <p:ext uri="{BB962C8B-B14F-4D97-AF65-F5344CB8AC3E}">
        <p14:creationId xmlns:p14="http://schemas.microsoft.com/office/powerpoint/2010/main" val="2846788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Постановка задачі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3/17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FC898F-59DF-2066-F1F9-658BFA60A1FC}"/>
              </a:ext>
            </a:extLst>
          </p:cNvPr>
          <p:cNvSpPr txBox="1"/>
          <p:nvPr/>
        </p:nvSpPr>
        <p:spPr>
          <a:xfrm>
            <a:off x="203783" y="2586633"/>
            <a:ext cx="1145813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досягнення мети необхідно вирішити такі завдання:</a:t>
            </a:r>
          </a:p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Аутентифікація: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Реалізувати реєстрацію, вхід та вихід із системи з валідацією даних.</a:t>
            </a:r>
          </a:p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 контентом: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Забезпечити завантаження, каталогізацію (категорії, опис) та видалення фото.</a:t>
            </a:r>
          </a:p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Редагування: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Інтегрувати потужний інструментарій: зміна яскравості, контрасту, насиченості, температури, віньєтка, розмиття, дзеркало, поворот та кадрування (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crop).</a:t>
            </a:r>
          </a:p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Навігація: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Розробити фільтрацію за категоріями, датою та повнотекстовий пошук.</a:t>
            </a:r>
          </a:p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UX/UI: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Впровадити адаптивний дизайн (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mobile/desktop),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світлу/темну теми та інтернаціоналізацію (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UA/ENG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endParaRPr lang="ru-RU" sz="1600" b="0" i="0" dirty="0">
              <a:solidFill>
                <a:schemeClr val="tx2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423444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93371" y="1157985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Аналіз предметної області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4/17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93F0E4-6020-C5FF-EB31-1AD4A59AC0A1}"/>
              </a:ext>
            </a:extLst>
          </p:cNvPr>
          <p:cNvSpPr txBox="1"/>
          <p:nvPr/>
        </p:nvSpPr>
        <p:spPr>
          <a:xfrm>
            <a:off x="438684" y="3114692"/>
            <a:ext cx="11314632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Огляд існуючих рішень</a:t>
            </a:r>
            <a:r>
              <a:rPr lang="ru-RU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Стандартні галереї часто є громіздкими, вимагають додаткових плагінів або обмежені у функціональності. Десктопні редактори не забезпечують доступності з будь-якого пристрою.</a:t>
            </a:r>
          </a:p>
          <a:p>
            <a:pPr algn="l"/>
            <a:r>
              <a:rPr lang="ru-RU" sz="16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Недоліки аналогів</a:t>
            </a:r>
            <a:r>
              <a:rPr lang="ru-RU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Складність у налаштуванні, недостатній рівень безпеки або відсутність можливості гнучкої каталогізації та миттєвого веб-доступу.</a:t>
            </a:r>
          </a:p>
          <a:p>
            <a:pPr algn="l"/>
            <a:r>
              <a:rPr lang="ru-RU" sz="16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Обґрунтування вибору технологій</a:t>
            </a:r>
            <a:r>
              <a:rPr lang="ru-RU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en-US" sz="16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Висока продуктивність, безпека, вбудована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ORM </a:t>
            </a:r>
            <a:r>
              <a:rPr lang="ru-RU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 адмін-панель, ідеально для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MVT.</a:t>
            </a:r>
          </a:p>
          <a:p>
            <a:pPr algn="l"/>
            <a:r>
              <a:rPr lang="en-US" sz="16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 налаштування, не потребує окремого сервера (легка міграція на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PostgreSQL).</a:t>
            </a:r>
          </a:p>
          <a:p>
            <a:pPr algn="l"/>
            <a:r>
              <a:rPr lang="en-US" sz="16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Pillow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Потужна обробка зображень на серверній стороні.</a:t>
            </a:r>
          </a:p>
          <a:p>
            <a:pPr algn="l"/>
            <a:r>
              <a:rPr lang="en-US" sz="16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Швидке створення адаптивного та стилізованого інтерфейсу.</a:t>
            </a:r>
          </a:p>
        </p:txBody>
      </p:sp>
    </p:spTree>
    <p:extLst>
      <p:ext uri="{BB962C8B-B14F-4D97-AF65-F5344CB8AC3E}">
        <p14:creationId xmlns:p14="http://schemas.microsoft.com/office/powerpoint/2010/main" val="127145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340866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Проєктування системи</a:t>
            </a:r>
            <a:br>
              <a:rPr lang="uk-UA" dirty="0">
                <a:solidFill>
                  <a:srgbClr val="002060"/>
                </a:solidFill>
              </a:rPr>
            </a:b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5/17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3F8C44-3831-C742-1B99-4514250216F3}"/>
              </a:ext>
            </a:extLst>
          </p:cNvPr>
          <p:cNvSpPr txBox="1"/>
          <p:nvPr/>
        </p:nvSpPr>
        <p:spPr>
          <a:xfrm>
            <a:off x="484974" y="2470146"/>
            <a:ext cx="112398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Методи/Методики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Використано модульний підхід (окремі модулі для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Views, Models, Forms).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Захист даних через хешування паролів та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CSRF-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токени.</a:t>
            </a:r>
          </a:p>
          <a:p>
            <a:pPr algn="l"/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Математичні моделі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Алгоритми трансформації пікселів (матриці кольоропередачі для яскравості/контрасту/температури), афінні перетворення для повороту та масштабування, гаусове розмиття.</a:t>
            </a:r>
          </a:p>
          <a:p>
            <a:pPr algn="l"/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 системи (</a:t>
            </a: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MVT)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Взаємодія з БД через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 ORM.</a:t>
            </a:r>
          </a:p>
          <a:p>
            <a:pPr algn="l"/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Обробка запитів, бізнес-логіка редагування (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Pillow),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формування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JSON/HTML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відповідей.</a:t>
            </a:r>
          </a:p>
          <a:p>
            <a:pPr algn="l"/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Відображення даних, використання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 Template Language.</a:t>
            </a: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12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021DD-0081-14E4-1ACD-F05642A8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0E913C-17E6-77D7-5C7F-3B1A44429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0866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Проєктування системи</a:t>
            </a:r>
            <a:br>
              <a:rPr lang="uk-UA" dirty="0">
                <a:solidFill>
                  <a:srgbClr val="002060"/>
                </a:solidFill>
              </a:rPr>
            </a:b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0B13E-05ED-66B2-1B55-520C7732DA4A}"/>
              </a:ext>
            </a:extLst>
          </p:cNvPr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6/17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07BFC-D6FC-5F11-00F9-DFE87CD4388D}"/>
              </a:ext>
            </a:extLst>
          </p:cNvPr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9193D-52F1-EC4E-BF6E-C9BFF308E477}"/>
              </a:ext>
            </a:extLst>
          </p:cNvPr>
          <p:cNvSpPr txBox="1"/>
          <p:nvPr/>
        </p:nvSpPr>
        <p:spPr>
          <a:xfrm>
            <a:off x="108959" y="2369056"/>
            <a:ext cx="115560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00A2C5-8154-45B4-FFD8-8ADAFA58A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4" y="2512463"/>
            <a:ext cx="3836100" cy="3407169"/>
          </a:xfrm>
          <a:prstGeom prst="rect">
            <a:avLst/>
          </a:prstGeom>
        </p:spPr>
      </p:pic>
      <p:pic>
        <p:nvPicPr>
          <p:cNvPr id="9" name="Рисунок 1">
            <a:extLst>
              <a:ext uri="{FF2B5EF4-FFF2-40B4-BE49-F238E27FC236}">
                <a16:creationId xmlns:a16="http://schemas.microsoft.com/office/drawing/2014/main" id="{96B00E46-225A-1B54-221E-B3D02EA6F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032" y="2369056"/>
            <a:ext cx="1401757" cy="3321039"/>
          </a:xfrm>
          <a:prstGeom prst="rect">
            <a:avLst/>
          </a:prstGeom>
        </p:spPr>
      </p:pic>
      <p:pic>
        <p:nvPicPr>
          <p:cNvPr id="10" name="Рисунок 2">
            <a:extLst>
              <a:ext uri="{FF2B5EF4-FFF2-40B4-BE49-F238E27FC236}">
                <a16:creationId xmlns:a16="http://schemas.microsoft.com/office/drawing/2014/main" id="{16496CD1-5FAE-CFA6-30FE-5A801FB8DA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858" y="3561679"/>
            <a:ext cx="5501005" cy="13087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D030BA-BFD7-A194-C438-D400C4CE5DBB}"/>
              </a:ext>
            </a:extLst>
          </p:cNvPr>
          <p:cNvSpPr txBox="1"/>
          <p:nvPr/>
        </p:nvSpPr>
        <p:spPr>
          <a:xfrm>
            <a:off x="940525" y="5909150"/>
            <a:ext cx="1378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100" dirty="0">
                <a:solidFill>
                  <a:schemeClr val="tx2"/>
                </a:solidFill>
              </a:rPr>
              <a:t>Діаграма </a:t>
            </a:r>
            <a:r>
              <a:rPr lang="en-US" sz="1100" dirty="0">
                <a:solidFill>
                  <a:schemeClr val="tx2"/>
                </a:solidFill>
              </a:rPr>
              <a:t>use case</a:t>
            </a:r>
            <a:endParaRPr lang="ru-RU" sz="1100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B3FCEF-B552-2F51-374D-6FBEEC759E3B}"/>
              </a:ext>
            </a:extLst>
          </p:cNvPr>
          <p:cNvSpPr txBox="1"/>
          <p:nvPr/>
        </p:nvSpPr>
        <p:spPr>
          <a:xfrm>
            <a:off x="4226159" y="5923702"/>
            <a:ext cx="18165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100" dirty="0">
                <a:solidFill>
                  <a:schemeClr val="tx2"/>
                </a:solidFill>
              </a:rPr>
              <a:t>Діаграма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uk-UA" sz="1100" dirty="0">
                <a:solidFill>
                  <a:schemeClr val="tx2"/>
                </a:solidFill>
              </a:rPr>
              <a:t>моделей даних</a:t>
            </a:r>
            <a:endParaRPr lang="ru-RU" sz="1100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34EAC-9B1C-0097-ABD9-6E6DE3955ECC}"/>
              </a:ext>
            </a:extLst>
          </p:cNvPr>
          <p:cNvSpPr txBox="1"/>
          <p:nvPr/>
        </p:nvSpPr>
        <p:spPr>
          <a:xfrm>
            <a:off x="8515569" y="5909150"/>
            <a:ext cx="28456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100" dirty="0">
                <a:solidFill>
                  <a:schemeClr val="tx2"/>
                </a:solidFill>
              </a:rPr>
              <a:t>Діаграма модульної архітектури додатку</a:t>
            </a:r>
            <a:endParaRPr lang="ru-RU" sz="1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177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FBF19-98D2-2A7B-472B-EB04F2319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E4B989-B588-7AC2-5882-72FDA6D17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0866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Проєктування системи</a:t>
            </a:r>
            <a:br>
              <a:rPr lang="uk-UA" dirty="0">
                <a:solidFill>
                  <a:srgbClr val="002060"/>
                </a:solidFill>
              </a:rPr>
            </a:b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0ED25-B5E1-46A5-58DB-E8658CE7BDEB}"/>
              </a:ext>
            </a:extLst>
          </p:cNvPr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7/17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C42CC-E557-04A0-5A97-418F8FD4D361}"/>
              </a:ext>
            </a:extLst>
          </p:cNvPr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5DC17C-6229-5F5B-2868-ACE6168CC47D}"/>
              </a:ext>
            </a:extLst>
          </p:cNvPr>
          <p:cNvSpPr txBox="1"/>
          <p:nvPr/>
        </p:nvSpPr>
        <p:spPr>
          <a:xfrm>
            <a:off x="108959" y="2369056"/>
            <a:ext cx="1155605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Функціональні вимоги:</a:t>
            </a: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Реєстрація та авторизація.</a:t>
            </a:r>
          </a:p>
          <a:p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операції для фото (завантаження, редагування "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Save/Save As",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видалення).</a:t>
            </a:r>
          </a:p>
          <a:p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Повний набір інструментів редагування (кольорокорекція,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crop, rotate, mirror).</a:t>
            </a:r>
          </a:p>
          <a:p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Фільтрація та пошук у галереї.</a:t>
            </a:r>
          </a:p>
          <a:p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Адаптивний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UI,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зміна тем, багатомовність.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Нефункціональні вимоги:</a:t>
            </a: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Безпека: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Хешування паролів, захист від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CSRF.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Продуктивність: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Обробка зображень у реальному часі.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Масштабованість: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Можливість заміни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Сумісність: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Коректна робота на мобільних і десктопних браузерах.</a:t>
            </a:r>
          </a:p>
          <a:p>
            <a:b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12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8/17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D70FC7-C49B-E249-29E8-C6FFC4E4A67D}"/>
              </a:ext>
            </a:extLst>
          </p:cNvPr>
          <p:cNvSpPr txBox="1"/>
          <p:nvPr/>
        </p:nvSpPr>
        <p:spPr>
          <a:xfrm>
            <a:off x="157658" y="2743200"/>
            <a:ext cx="1140480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Етапи розробки:</a:t>
            </a: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та проектування (діаграми, прототипування).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(Django Models, Views, URL dispatcher).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 інструментів обробки фото (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Pillow pipeline).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Верстка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(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адаптивний дизайн на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Bootstrap, JS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слайдерів).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 та налагодження.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Використані технології:</a:t>
            </a: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Мови: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Python, JavaScript, HTML, CSS.</a:t>
            </a:r>
          </a:p>
          <a:p>
            <a:pPr lvl="1"/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Фреймворки: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Django.</a:t>
            </a:r>
          </a:p>
          <a:p>
            <a:pPr lvl="1"/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Бібліотеки: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Pillow, Bootstrap 5.3.</a:t>
            </a:r>
          </a:p>
          <a:p>
            <a:pPr lvl="1"/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даних: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SQLite.</a:t>
            </a:r>
          </a:p>
          <a:p>
            <a:br>
              <a:rPr lang="en-US" sz="1600" dirty="0">
                <a:solidFill>
                  <a:schemeClr val="tx2"/>
                </a:solidFill>
              </a:rPr>
            </a:b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554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8121D-21F9-C50B-BD95-8D4E1E0EB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ECCCC4-0A18-ADAA-3CFD-9C9D6A9CF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62E419-229B-1364-B782-AE93F4158F35}"/>
              </a:ext>
            </a:extLst>
          </p:cNvPr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9/17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F6279-E35F-E58E-E44B-83C417CE3000}"/>
              </a:ext>
            </a:extLst>
          </p:cNvPr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9A6607-2328-CBD5-DDD1-78BAFCF5D2C9}"/>
              </a:ext>
            </a:extLst>
          </p:cNvPr>
          <p:cNvSpPr txBox="1"/>
          <p:nvPr/>
        </p:nvSpPr>
        <p:spPr>
          <a:xfrm>
            <a:off x="157658" y="2743200"/>
            <a:ext cx="114048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600" dirty="0">
                <a:solidFill>
                  <a:schemeClr val="tx2"/>
                </a:solidFill>
              </a:rPr>
            </a:b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C5CD1E-DC58-FF5A-3F18-ACDA1CF38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849" y="2702809"/>
            <a:ext cx="5719493" cy="30378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4162AF-C257-E765-9FC2-38BB25A6F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93" y="2649404"/>
            <a:ext cx="4725814" cy="309123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636EC65-68D3-ECDB-DAF3-3217A54B10D2}"/>
              </a:ext>
            </a:extLst>
          </p:cNvPr>
          <p:cNvSpPr txBox="1"/>
          <p:nvPr/>
        </p:nvSpPr>
        <p:spPr>
          <a:xfrm>
            <a:off x="1712102" y="5781033"/>
            <a:ext cx="1106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400" dirty="0">
                <a:solidFill>
                  <a:schemeClr val="tx2"/>
                </a:solidFill>
              </a:rPr>
              <a:t>Реєстрація</a:t>
            </a:r>
            <a:endParaRPr lang="ru-RU" sz="14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6E1171-5D2B-6FA3-8E6D-ACA3137CB58D}"/>
              </a:ext>
            </a:extLst>
          </p:cNvPr>
          <p:cNvSpPr txBox="1"/>
          <p:nvPr/>
        </p:nvSpPr>
        <p:spPr>
          <a:xfrm>
            <a:off x="9136251" y="5781032"/>
            <a:ext cx="714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>
                <a:solidFill>
                  <a:schemeClr val="tx2"/>
                </a:solidFill>
              </a:rPr>
              <a:t>Вхід</a:t>
            </a:r>
            <a:endParaRPr lang="ru-RU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42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61B5D-7C9E-0469-4A57-B1D9CBE0A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AAB29-BA67-8AD9-BF45-F30538E85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897F5-40B0-A7D6-830C-25387432E308}"/>
              </a:ext>
            </a:extLst>
          </p:cNvPr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10/17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37657B-0A41-363A-466A-30AC44A71A91}"/>
              </a:ext>
            </a:extLst>
          </p:cNvPr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AEA0D-5434-1343-BAC4-33017CEBC92C}"/>
              </a:ext>
            </a:extLst>
          </p:cNvPr>
          <p:cNvSpPr txBox="1"/>
          <p:nvPr/>
        </p:nvSpPr>
        <p:spPr>
          <a:xfrm>
            <a:off x="157658" y="2743200"/>
            <a:ext cx="114048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600" dirty="0">
                <a:solidFill>
                  <a:schemeClr val="tx2"/>
                </a:solidFill>
              </a:rPr>
            </a:b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51BD93-C114-5B0C-E564-F464CC445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88" y="2743200"/>
            <a:ext cx="4980279" cy="30257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14D47C-262D-A3BD-8E25-A5ED35B25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224" y="2743199"/>
            <a:ext cx="5853869" cy="30215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06D8AB-C062-2CC8-D143-B20566073FB5}"/>
              </a:ext>
            </a:extLst>
          </p:cNvPr>
          <p:cNvSpPr txBox="1"/>
          <p:nvPr/>
        </p:nvSpPr>
        <p:spPr>
          <a:xfrm>
            <a:off x="1693447" y="5749701"/>
            <a:ext cx="233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>
                <a:solidFill>
                  <a:schemeClr val="tx2"/>
                </a:solidFill>
              </a:rPr>
              <a:t>Завантаження фото</a:t>
            </a:r>
            <a:endParaRPr lang="ru-RU" sz="1400" dirty="0">
              <a:solidFill>
                <a:schemeClr val="tx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EABB8A-1644-E570-7A24-7643DFE63FA1}"/>
              </a:ext>
            </a:extLst>
          </p:cNvPr>
          <p:cNvSpPr txBox="1"/>
          <p:nvPr/>
        </p:nvSpPr>
        <p:spPr>
          <a:xfrm>
            <a:off x="7716324" y="5749702"/>
            <a:ext cx="17016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>
                <a:solidFill>
                  <a:schemeClr val="tx2"/>
                </a:solidFill>
              </a:rPr>
              <a:t>Перегляд галереї</a:t>
            </a:r>
            <a:endParaRPr lang="ru-RU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037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7B64C-F00D-4891-F0FE-4AFBB8C6A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26E15-D766-8DB3-737F-20501D908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8BC27-8CC7-44EE-4B11-2DC369FC8B30}"/>
              </a:ext>
            </a:extLst>
          </p:cNvPr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11/17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4E93F-3A0B-6719-C073-4B973940C2CD}"/>
              </a:ext>
            </a:extLst>
          </p:cNvPr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2BD8D0-AD37-CA58-1BBF-4DB9E6656587}"/>
              </a:ext>
            </a:extLst>
          </p:cNvPr>
          <p:cNvSpPr txBox="1"/>
          <p:nvPr/>
        </p:nvSpPr>
        <p:spPr>
          <a:xfrm>
            <a:off x="157658" y="2743200"/>
            <a:ext cx="114048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600" dirty="0">
                <a:solidFill>
                  <a:schemeClr val="tx2"/>
                </a:solidFill>
              </a:rPr>
            </a:b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CD451D-848F-5512-EE90-23E3F6B0B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579" y="2612361"/>
            <a:ext cx="7328842" cy="32169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731905-6CCE-2397-0FEB-342739FB1816}"/>
              </a:ext>
            </a:extLst>
          </p:cNvPr>
          <p:cNvSpPr txBox="1"/>
          <p:nvPr/>
        </p:nvSpPr>
        <p:spPr>
          <a:xfrm>
            <a:off x="4985267" y="5829301"/>
            <a:ext cx="1749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>
                <a:solidFill>
                  <a:schemeClr val="tx2"/>
                </a:solidFill>
              </a:rPr>
              <a:t>Редагування фото</a:t>
            </a:r>
            <a:endParaRPr lang="ru-RU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535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D6D7-0ADE-21A7-46D8-DD78E7BEE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B727C-FE21-9A17-00C0-3E8D40E53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17743-7DFD-6C6C-62FA-6E476391F9CC}"/>
              </a:ext>
            </a:extLst>
          </p:cNvPr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12/17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BF537F-0805-6D84-6F6C-C8FFD1E82A98}"/>
              </a:ext>
            </a:extLst>
          </p:cNvPr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01911-9AE0-8A3E-78A4-4580D8ADD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579" y="2586633"/>
            <a:ext cx="7328842" cy="32928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412A49-5CA2-64EB-4B1D-45C1D348E3DE}"/>
              </a:ext>
            </a:extLst>
          </p:cNvPr>
          <p:cNvSpPr txBox="1"/>
          <p:nvPr/>
        </p:nvSpPr>
        <p:spPr>
          <a:xfrm>
            <a:off x="4854121" y="5922236"/>
            <a:ext cx="2483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>
                <a:solidFill>
                  <a:schemeClr val="tx2"/>
                </a:solidFill>
              </a:rPr>
              <a:t>Застосування фільтрів</a:t>
            </a:r>
            <a:endParaRPr lang="ru-RU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624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9E89C-9D33-29A2-751D-289B7A0C1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CA22C-27BC-F4A5-38C6-3DB8831FA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E01AF-4ECA-B9BA-31E1-B0B2D1D98B04}"/>
              </a:ext>
            </a:extLst>
          </p:cNvPr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13/17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DBECA4-B53A-F716-39A7-29CB09E8DCB2}"/>
              </a:ext>
            </a:extLst>
          </p:cNvPr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E99210-FA38-B815-5DFB-2ED28839E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7" y="2586633"/>
            <a:ext cx="2226669" cy="30231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DA6D94-FEB0-7431-3AF5-01824DB66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819" y="2586633"/>
            <a:ext cx="2858272" cy="30231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892C1E-A236-B84E-C4F5-CE3E7E187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334" y="2586633"/>
            <a:ext cx="3172268" cy="30231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ABBEAE-FDCD-1E13-D30D-42664FACE9A0}"/>
              </a:ext>
            </a:extLst>
          </p:cNvPr>
          <p:cNvSpPr txBox="1"/>
          <p:nvPr/>
        </p:nvSpPr>
        <p:spPr>
          <a:xfrm>
            <a:off x="959917" y="5692568"/>
            <a:ext cx="199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>
                <a:solidFill>
                  <a:schemeClr val="tx2"/>
                </a:solidFill>
              </a:rPr>
              <a:t>Мобільний інтерфейс</a:t>
            </a:r>
            <a:endParaRPr lang="ru-RU" sz="1400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EF2845-BB68-145F-B5AB-7FF12D91C756}"/>
              </a:ext>
            </a:extLst>
          </p:cNvPr>
          <p:cNvSpPr txBox="1"/>
          <p:nvPr/>
        </p:nvSpPr>
        <p:spPr>
          <a:xfrm>
            <a:off x="4674620" y="5609805"/>
            <a:ext cx="2226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>
                <a:solidFill>
                  <a:schemeClr val="tx2"/>
                </a:solidFill>
              </a:rPr>
              <a:t>М.і. завантаження фото</a:t>
            </a:r>
            <a:endParaRPr lang="ru-RU" sz="1400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FC020F-7862-3462-873B-24E69655B05D}"/>
              </a:ext>
            </a:extLst>
          </p:cNvPr>
          <p:cNvSpPr txBox="1"/>
          <p:nvPr/>
        </p:nvSpPr>
        <p:spPr>
          <a:xfrm>
            <a:off x="9451068" y="5609804"/>
            <a:ext cx="199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>
                <a:solidFill>
                  <a:schemeClr val="tx2"/>
                </a:solidFill>
              </a:rPr>
              <a:t>Налаштування</a:t>
            </a:r>
            <a:endParaRPr lang="ru-RU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862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407E8-C6D3-09F7-E23A-298232476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865315-6E4A-5B5E-9EA0-98E04687B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9E425-B5C5-AD61-739A-FA2DF5EFA579}"/>
              </a:ext>
            </a:extLst>
          </p:cNvPr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14/17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99685-4447-DE0C-5C04-9C0C72E420A0}"/>
              </a:ext>
            </a:extLst>
          </p:cNvPr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1EA10B-89A3-01B5-2DFA-BE832D978E01}"/>
              </a:ext>
            </a:extLst>
          </p:cNvPr>
          <p:cNvSpPr txBox="1"/>
          <p:nvPr/>
        </p:nvSpPr>
        <p:spPr>
          <a:xfrm>
            <a:off x="174750" y="2982483"/>
            <a:ext cx="1140480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Етапи розробки:</a:t>
            </a: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та проектування (діаграми, прототипування).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(Django Models, Views, URL dispatcher).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 інструментів обробки фото (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Pillow pipeline).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Верстка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(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адаптивний дизайн на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Bootstrap, JS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слайдерів).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 та налагодження.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Використані технології:</a:t>
            </a: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Мови: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Python, JavaScript, HTML, CSS.</a:t>
            </a:r>
          </a:p>
          <a:p>
            <a:pPr lvl="1"/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Фреймворки: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Django.</a:t>
            </a:r>
          </a:p>
          <a:p>
            <a:pPr lvl="1"/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Бібліотеки: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Pillow, Bootstrap 5.3.</a:t>
            </a:r>
          </a:p>
          <a:p>
            <a:pPr lvl="1"/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даних: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SQLite.</a:t>
            </a:r>
          </a:p>
          <a:p>
            <a:br>
              <a:rPr lang="en-US" sz="1600" dirty="0">
                <a:solidFill>
                  <a:schemeClr val="tx2"/>
                </a:solidFill>
              </a:rPr>
            </a:b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382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36363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Тестування та верифікація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15/17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48C9FF-B07E-6DBC-E087-0ED88F4322CB}"/>
              </a:ext>
            </a:extLst>
          </p:cNvPr>
          <p:cNvSpPr txBox="1"/>
          <p:nvPr/>
        </p:nvSpPr>
        <p:spPr>
          <a:xfrm>
            <a:off x="268232" y="3429000"/>
            <a:ext cx="1139368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Методи тестування: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Модульне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Перевірка валідації форм,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операцій моделей.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Інтеграційне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Тестування пайплайну завантаження-редагування-збереження.</a:t>
            </a:r>
          </a:p>
          <a:p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UI/UX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Перевірка роботи слайдерів, адаптивного дизайну, зміни тем.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Порівняння з аналогами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Перевага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Поєднання менеджера файлів та просунутого редактора в одному вікні браузера.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Особливість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Глибока кастомізація фільтрів (температура, віньєтка,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clarity)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 миттєвий попередній перегляд без перезавантаження.</a:t>
            </a:r>
          </a:p>
          <a:p>
            <a:br>
              <a:rPr lang="ru-RU" sz="1600" b="1" dirty="0">
                <a:solidFill>
                  <a:schemeClr val="tx2"/>
                </a:solidFill>
              </a:rPr>
            </a:br>
            <a:endParaRPr lang="ru-RU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628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3151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Впровадження та супровід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16/17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BCF5E9-2EDA-5966-53A0-28C68561E735}"/>
              </a:ext>
            </a:extLst>
          </p:cNvPr>
          <p:cNvSpPr txBox="1"/>
          <p:nvPr/>
        </p:nvSpPr>
        <p:spPr>
          <a:xfrm>
            <a:off x="171084" y="3075249"/>
            <a:ext cx="1151956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 розгортання: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Клонування репозиторію, налаштування .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 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файлу, виконання міграцій (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manage.py migrate),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збір статики, запуск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WSGI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серверу.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Документація: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Керівництво користувача (Розділ 10) з детальними скріншотами. Технічна документація в коді.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Плани розвитку:</a:t>
            </a: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Інтеграція з хмарними сховищами (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S3).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Впровадження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API.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Додавання історії редагувань (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Undo/Redo).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Розширення функціоналу фільтрів (криві, рівн</a:t>
            </a:r>
            <a:r>
              <a:rPr lang="uk-UA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і).</a:t>
            </a: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273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Висновки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17/17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3BB764-A06F-786C-DD70-8707163F2778}"/>
              </a:ext>
            </a:extLst>
          </p:cNvPr>
          <p:cNvSpPr txBox="1"/>
          <p:nvPr/>
        </p:nvSpPr>
        <p:spPr>
          <a:xfrm>
            <a:off x="361772" y="2808824"/>
            <a:ext cx="1146845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Успішно спроектовано та реалізовано повнофункціональний веб-додаток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“Photo Gallery”.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Виконані завдання:</a:t>
            </a:r>
            <a:endParaRPr lang="ru-RU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реєстрації та безпечної аутентифікації.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Інтерактивний редактор з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Save/Save As,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кадруванням та фільтрами.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Адаптивний дизайн (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mobile-first), 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дві теми, дві мови.</a:t>
            </a:r>
          </a:p>
          <a:p>
            <a:pPr lvl="1"/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Гнучка система зберігання даних (готова до масштабування).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Практична цінність: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Готовий продукт для управління персональною колекцією зображень.</a:t>
            </a:r>
          </a:p>
          <a:p>
            <a:r>
              <a:rPr lang="ru-RU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Недоліки:</a:t>
            </a:r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На даний момент не реалізовано історію редагувань та механізм поширення фото.</a:t>
            </a:r>
          </a:p>
        </p:txBody>
      </p:sp>
    </p:spTree>
    <p:extLst>
      <p:ext uri="{BB962C8B-B14F-4D97-AF65-F5344CB8AC3E}">
        <p14:creationId xmlns:p14="http://schemas.microsoft.com/office/powerpoint/2010/main" val="39128135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4">
  <a:themeElements>
    <a:clrScheme name="Офіс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фіс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4" id="{462375DE-8928-429B-B01E-09E2FDA995FC}" vid="{78FACF3B-D61D-4CDD-A381-200BC8A0536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Тема4</Template>
  <TotalTime>145</TotalTime>
  <Words>1237</Words>
  <Application>Microsoft Office PowerPoint</Application>
  <PresentationFormat>Widescreen</PresentationFormat>
  <Paragraphs>187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quote-cjk-patch</vt:lpstr>
      <vt:lpstr>Tahoma</vt:lpstr>
      <vt:lpstr>Times New Roman</vt:lpstr>
      <vt:lpstr>Тема4</vt:lpstr>
      <vt:lpstr> Веб-додаток для створення та редагування фотографій Виконав: Миколайчук Ігор Олегович, група ТВ-41 Перевірив: Голець Владислав Олександрович GitHub репозиторій https://github.com/MykolaichukIhor/web_CW  2026</vt:lpstr>
      <vt:lpstr>Актуальність теми </vt:lpstr>
      <vt:lpstr>Постановка задачі </vt:lpstr>
      <vt:lpstr>Аналіз предметної області </vt:lpstr>
      <vt:lpstr>Проєктування системи  </vt:lpstr>
      <vt:lpstr>Проєктування системи  </vt:lpstr>
      <vt:lpstr>Проєктування системи  </vt:lpstr>
      <vt:lpstr>Реалізація системи </vt:lpstr>
      <vt:lpstr>Реалізація системи </vt:lpstr>
      <vt:lpstr>Реалізація системи </vt:lpstr>
      <vt:lpstr>Реалізація системи </vt:lpstr>
      <vt:lpstr>Реалізація системи </vt:lpstr>
      <vt:lpstr>Реалізація системи </vt:lpstr>
      <vt:lpstr>Реалізація системи </vt:lpstr>
      <vt:lpstr>Тестування та верифікація </vt:lpstr>
      <vt:lpstr>Впровадження та супровід </vt:lpstr>
      <vt:lpstr>Висновки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 роботи  ПІБ студента, група ПІБ наукового керівника, посада  Рік захисту</dc:title>
  <dc:creator>Olha Zalevska</dc:creator>
  <cp:lastModifiedBy>Ігор Миколайчук</cp:lastModifiedBy>
  <cp:revision>17</cp:revision>
  <dcterms:created xsi:type="dcterms:W3CDTF">2024-05-18T16:47:00Z</dcterms:created>
  <dcterms:modified xsi:type="dcterms:W3CDTF">2026-05-10T11:25:09Z</dcterms:modified>
</cp:coreProperties>
</file>